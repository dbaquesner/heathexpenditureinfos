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fr-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998382-A11A-1F0F-4547-7EDAD39A9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9953CD-524E-642E-2E44-64A10C3E4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0DB8D4-174F-BE4C-8E38-E3245018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B360F1-AF98-C3CE-0D16-1717FB4C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76C3E0-E028-B19C-36F3-59943AF6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872990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A8E789-C7D4-E2EB-B467-A06376075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4A9755-3E51-69BC-F0E8-A9283C08A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CD11ED2-CFC7-A57C-79EA-7619511B4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E62C2E-8621-364F-5B64-3E0D3CE4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08E9BD-8BD8-8295-3ED8-39341972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318081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AF47FD-2E5A-70F7-9B99-1A68ED7FE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E38773-5ABA-4F02-0CAA-641F4BDCC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B8C918-4804-D38C-5C3C-87BDFD3C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B9F3FF-85BA-A091-DF1D-A124074C4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5CA696-DD2D-96D0-10E5-EF0BDD1C1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680611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49415F-A920-3E79-256A-DC8408DDF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089873-4BFD-8EFA-F32A-9D68F19F1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D2B585-8600-DB9F-362E-7E6DFC27C3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E2FE4D4-D8F0-F5E7-0FE4-F3EA77C1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B0D5A87-D7BF-D12A-9643-31FDAED1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B8E2D6-2846-65CC-EE15-D553F715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4044387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83033A-9F6A-0566-9473-F988FBFB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F8DE7E-9D77-7847-0651-B0E40CC9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E5CC55-67E8-D744-7482-73C885882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019EBD-C195-FE75-4DAE-887CA8A27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9C1DDF5-F255-6441-CC6E-17FCFC5F4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CDB72A4-1F6C-EA32-6903-BB6ECD43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AAAB70-C86D-3E34-5A1F-63D385661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87ECFEB-C0D9-B897-A8C6-90B191A9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274054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2BBB9-011E-5259-E80A-0F4ADCAA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4F8D1A9-FD05-6426-FF20-6069DF09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54B7034-703B-5073-3CEE-4C4D27EE9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A4F672A-616A-7FBA-45CC-C3DF2ED8F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294553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1A00CB8-E86D-F752-4A3B-2F5A037E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AD63847-ADFA-4747-967C-504911AE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B0FF65-5955-0B33-4B5F-4A2632E50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3693639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838A9E-9B0C-C250-463E-5EC1BD3ED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DF0C7E-5E73-7309-D511-C4C7F3FE4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724E9F-0D2E-0355-2A88-C76F61549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9F9B44-E61F-4EF4-5331-CB3B6F5B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1E0A34F-A143-4232-E474-81AB49736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DA5170-149D-8473-A2FC-2CC06A4E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499053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C77EEB-7926-6D04-32C4-7EFFCA65E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3263C49-21FF-C0F1-F1E0-0591E73CC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N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5C25203-F4A3-C8E0-5E81-B5EA18503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36C3CD-9936-5877-F735-958E5751B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5B153F-711C-8921-F3B3-7B003E7B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2517B7-AC44-A87B-D7C4-8159C89DE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002072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C86146-2C40-1C65-929D-CCE28D3D1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581AF0-AE43-0442-8D26-2BE22B85A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2C21A9-E928-6B2F-4DBC-501C47294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417BB8-AA93-EC0C-4547-9AEE923E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84CEEA-8F91-B1B7-DC18-E1A41555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21888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0CB2490-55AC-8119-3040-A2B00F21D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7064C5D-6DE0-B91D-DEE4-536B86AA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954C0F-B646-AFEE-CE35-BA1C3E30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723C80-04EF-1493-00FF-ADD592268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B1821D2-1311-FAFF-19BE-AC610903A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1208215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0DA9E11-CF3A-08C3-990C-A03087A93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N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7E866F-8BA0-356E-8D1D-C72ED91CA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N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6E61B8-C936-75CE-440C-EAF3E4E67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FFB62-6812-45E6-AD9C-69BE6800F31F}" type="datetimeFigureOut">
              <a:rPr lang="fr-NE" smtClean="0"/>
              <a:t>20/09/2026</a:t>
            </a:fld>
            <a:endParaRPr lang="fr-N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BCA53B-9F95-E0C9-2A7C-7B49E4ECAD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N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051E59-757A-D752-7B78-B0E8AF9980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C55C8-21A6-40F6-9690-2232EADB6D1A}" type="slidenum">
              <a:rPr lang="fr-NE" smtClean="0"/>
              <a:t>‹N°›</a:t>
            </a:fld>
            <a:endParaRPr lang="fr-NE"/>
          </a:p>
        </p:txBody>
      </p:sp>
    </p:spTree>
    <p:extLst>
      <p:ext uri="{BB962C8B-B14F-4D97-AF65-F5344CB8AC3E}">
        <p14:creationId xmlns:p14="http://schemas.microsoft.com/office/powerpoint/2010/main" val="2809810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04A950-9166-059F-4180-27BB43D7B0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Consolidating Expenditure health Information </a:t>
            </a:r>
            <a:endParaRPr lang="fr-NE" b="1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24D62BF-7A28-AB3F-B278-4534978F2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2872" y="4324414"/>
            <a:ext cx="9144000" cy="1655762"/>
          </a:xfrm>
        </p:spPr>
        <p:txBody>
          <a:bodyPr/>
          <a:lstStyle/>
          <a:p>
            <a:endParaRPr lang="fr-FR" dirty="0"/>
          </a:p>
          <a:p>
            <a:r>
              <a:rPr lang="fr-FR" dirty="0" err="1"/>
              <a:t>Presented</a:t>
            </a:r>
            <a:r>
              <a:rPr lang="fr-FR" dirty="0"/>
              <a:t> by Narcisse QUENUM</a:t>
            </a:r>
            <a:endParaRPr lang="fr-NE" dirty="0"/>
          </a:p>
        </p:txBody>
      </p:sp>
    </p:spTree>
    <p:extLst>
      <p:ext uri="{BB962C8B-B14F-4D97-AF65-F5344CB8AC3E}">
        <p14:creationId xmlns:p14="http://schemas.microsoft.com/office/powerpoint/2010/main" val="4230760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BC9781-92B5-4B55-C8FB-692062FC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2699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/>
              <a:t>SI Architecture</a:t>
            </a:r>
            <a:endParaRPr lang="fr-NE" b="1" dirty="0"/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31AAA841-0FAF-2D38-1DA9-2F88A6D59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24" y="3945939"/>
            <a:ext cx="575088" cy="610154"/>
          </a:xfrm>
          <a:prstGeom prst="rect">
            <a:avLst/>
          </a:prstGeom>
        </p:spPr>
      </p:pic>
      <p:sp>
        <p:nvSpPr>
          <p:cNvPr id="5" name="Ellipse 4">
            <a:extLst>
              <a:ext uri="{FF2B5EF4-FFF2-40B4-BE49-F238E27FC236}">
                <a16:creationId xmlns:a16="http://schemas.microsoft.com/office/drawing/2014/main" id="{1254DAD5-D685-7554-E8EB-367AABEC0563}"/>
              </a:ext>
            </a:extLst>
          </p:cNvPr>
          <p:cNvSpPr/>
          <p:nvPr/>
        </p:nvSpPr>
        <p:spPr>
          <a:xfrm>
            <a:off x="4178808" y="1435608"/>
            <a:ext cx="2267712" cy="154533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Load</a:t>
            </a:r>
            <a:r>
              <a:rPr lang="fr-FR" dirty="0"/>
              <a:t> data </a:t>
            </a:r>
            <a:r>
              <a:rPr lang="fr-FR" dirty="0" err="1"/>
              <a:t>from</a:t>
            </a:r>
            <a:r>
              <a:rPr lang="fr-FR" dirty="0"/>
              <a:t> flat files</a:t>
            </a:r>
            <a:endParaRPr lang="fr-NE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BD3068F3-F3A2-1ABF-230B-BF45F7A5345B}"/>
              </a:ext>
            </a:extLst>
          </p:cNvPr>
          <p:cNvCxnSpPr>
            <a:stCxn id="7" idx="3"/>
          </p:cNvCxnSpPr>
          <p:nvPr/>
        </p:nvCxnSpPr>
        <p:spPr>
          <a:xfrm flipV="1">
            <a:off x="1581912" y="2642616"/>
            <a:ext cx="2596896" cy="1608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0AEDEFEB-1C6A-9CE2-B3B0-332F4DE9A57E}"/>
              </a:ext>
            </a:extLst>
          </p:cNvPr>
          <p:cNvSpPr/>
          <p:nvPr/>
        </p:nvSpPr>
        <p:spPr>
          <a:xfrm>
            <a:off x="4303776" y="3104389"/>
            <a:ext cx="2267712" cy="154533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Persist</a:t>
            </a:r>
            <a:r>
              <a:rPr lang="fr-FR" dirty="0"/>
              <a:t> Data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Database</a:t>
            </a:r>
            <a:endParaRPr lang="fr-NE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4F312439-CFA1-7BEB-AA5B-E04C716C3233}"/>
              </a:ext>
            </a:extLst>
          </p:cNvPr>
          <p:cNvCxnSpPr>
            <a:stCxn id="7" idx="3"/>
          </p:cNvCxnSpPr>
          <p:nvPr/>
        </p:nvCxnSpPr>
        <p:spPr>
          <a:xfrm>
            <a:off x="1581912" y="4251016"/>
            <a:ext cx="2596896" cy="156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Ellipse 14">
            <a:extLst>
              <a:ext uri="{FF2B5EF4-FFF2-40B4-BE49-F238E27FC236}">
                <a16:creationId xmlns:a16="http://schemas.microsoft.com/office/drawing/2014/main" id="{7AA53F83-D0EA-C34E-508C-50E6E845A5CA}"/>
              </a:ext>
            </a:extLst>
          </p:cNvPr>
          <p:cNvSpPr/>
          <p:nvPr/>
        </p:nvSpPr>
        <p:spPr>
          <a:xfrm>
            <a:off x="4303776" y="4947539"/>
            <a:ext cx="2267712" cy="154533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Query Data </a:t>
            </a:r>
            <a:r>
              <a:rPr lang="fr-FR" dirty="0" err="1"/>
              <a:t>filtering</a:t>
            </a:r>
            <a:r>
              <a:rPr lang="fr-FR" dirty="0"/>
              <a:t> and </a:t>
            </a:r>
            <a:r>
              <a:rPr lang="fr-FR" dirty="0" err="1"/>
              <a:t>Visualize</a:t>
            </a:r>
            <a:r>
              <a:rPr lang="fr-FR" dirty="0"/>
              <a:t> </a:t>
            </a:r>
            <a:r>
              <a:rPr lang="fr-FR" dirty="0" err="1"/>
              <a:t>analysis</a:t>
            </a:r>
            <a:endParaRPr lang="fr-NE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DC18CB-98F4-6550-F22C-3BB2BAA2349A}"/>
              </a:ext>
            </a:extLst>
          </p:cNvPr>
          <p:cNvSpPr/>
          <p:nvPr/>
        </p:nvSpPr>
        <p:spPr>
          <a:xfrm>
            <a:off x="847344" y="4733471"/>
            <a:ext cx="757968" cy="25539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Users</a:t>
            </a:r>
            <a:endParaRPr lang="fr-NE" dirty="0"/>
          </a:p>
        </p:txBody>
      </p:sp>
    </p:spTree>
    <p:extLst>
      <p:ext uri="{BB962C8B-B14F-4D97-AF65-F5344CB8AC3E}">
        <p14:creationId xmlns:p14="http://schemas.microsoft.com/office/powerpoint/2010/main" val="2861982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Espace réservé du contenu 38" descr="Base de données avec un remplissage uni">
            <a:extLst>
              <a:ext uri="{FF2B5EF4-FFF2-40B4-BE49-F238E27FC236}">
                <a16:creationId xmlns:a16="http://schemas.microsoft.com/office/drawing/2014/main" id="{72A78E75-9295-E0DB-EB0E-11B4215BD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7759" y="6062226"/>
            <a:ext cx="1591056" cy="811763"/>
          </a:xfrm>
        </p:spPr>
      </p:pic>
      <p:sp>
        <p:nvSpPr>
          <p:cNvPr id="6" name="Rectangle : carré corné 5">
            <a:extLst>
              <a:ext uri="{FF2B5EF4-FFF2-40B4-BE49-F238E27FC236}">
                <a16:creationId xmlns:a16="http://schemas.microsoft.com/office/drawing/2014/main" id="{319FA0B1-09B0-42DC-11A6-860266CFE5EF}"/>
              </a:ext>
            </a:extLst>
          </p:cNvPr>
          <p:cNvSpPr/>
          <p:nvPr/>
        </p:nvSpPr>
        <p:spPr>
          <a:xfrm>
            <a:off x="147748" y="1664208"/>
            <a:ext cx="1077548" cy="950976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State 1</a:t>
            </a:r>
            <a:endParaRPr lang="fr-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 : carré corné 8">
            <a:extLst>
              <a:ext uri="{FF2B5EF4-FFF2-40B4-BE49-F238E27FC236}">
                <a16:creationId xmlns:a16="http://schemas.microsoft.com/office/drawing/2014/main" id="{F7A974A4-8C87-4ABD-CDCD-A260AB42334A}"/>
              </a:ext>
            </a:extLst>
          </p:cNvPr>
          <p:cNvSpPr/>
          <p:nvPr/>
        </p:nvSpPr>
        <p:spPr>
          <a:xfrm>
            <a:off x="147748" y="3008376"/>
            <a:ext cx="1077548" cy="950976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State 2</a:t>
            </a:r>
            <a:endParaRPr lang="fr-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 : carré corné 9">
            <a:extLst>
              <a:ext uri="{FF2B5EF4-FFF2-40B4-BE49-F238E27FC236}">
                <a16:creationId xmlns:a16="http://schemas.microsoft.com/office/drawing/2014/main" id="{358888FC-629C-E493-ECD6-0269EBF4F4A7}"/>
              </a:ext>
            </a:extLst>
          </p:cNvPr>
          <p:cNvSpPr/>
          <p:nvPr/>
        </p:nvSpPr>
        <p:spPr>
          <a:xfrm>
            <a:off x="147748" y="5526659"/>
            <a:ext cx="1132412" cy="813816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State n</a:t>
            </a:r>
            <a:endParaRPr lang="fr-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99D4CD33-C49D-AC30-8D97-175F0FBF1497}"/>
              </a:ext>
            </a:extLst>
          </p:cNvPr>
          <p:cNvSpPr txBox="1">
            <a:spLocks/>
          </p:cNvSpPr>
          <p:nvPr/>
        </p:nvSpPr>
        <p:spPr>
          <a:xfrm>
            <a:off x="981456" y="786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external</a:t>
            </a:r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 Multi-sources and </a:t>
            </a:r>
            <a:r>
              <a:rPr lang="fr-F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Multi-Format</a:t>
            </a:r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 Data to Middle </a:t>
            </a:r>
            <a:r>
              <a:rPr lang="fr-F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 (Solution 1)</a:t>
            </a:r>
            <a:endParaRPr lang="fr-N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 : carré corné 21">
            <a:extLst>
              <a:ext uri="{FF2B5EF4-FFF2-40B4-BE49-F238E27FC236}">
                <a16:creationId xmlns:a16="http://schemas.microsoft.com/office/drawing/2014/main" id="{4F68C0C2-1E38-82A5-9E69-FFD7AA4640DD}"/>
              </a:ext>
            </a:extLst>
          </p:cNvPr>
          <p:cNvSpPr/>
          <p:nvPr/>
        </p:nvSpPr>
        <p:spPr>
          <a:xfrm>
            <a:off x="147748" y="4182491"/>
            <a:ext cx="1077548" cy="950976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State 3</a:t>
            </a:r>
            <a:endParaRPr lang="fr-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9DCCDDCD-A60E-F8F8-6092-7C6C35D2607C}"/>
              </a:ext>
            </a:extLst>
          </p:cNvPr>
          <p:cNvGrpSpPr/>
          <p:nvPr/>
        </p:nvGrpSpPr>
        <p:grpSpPr>
          <a:xfrm>
            <a:off x="2011680" y="1248263"/>
            <a:ext cx="8933688" cy="2633472"/>
            <a:chOff x="2011680" y="1248263"/>
            <a:chExt cx="8933688" cy="2633472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256AA444-3F6D-C311-72F2-F2EBE6F3AAA1}"/>
                </a:ext>
              </a:extLst>
            </p:cNvPr>
            <p:cNvSpPr/>
            <p:nvPr/>
          </p:nvSpPr>
          <p:spPr>
            <a:xfrm>
              <a:off x="2011680" y="1248263"/>
              <a:ext cx="8933688" cy="2633472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NE" dirty="0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39416F30-62B2-8B35-D635-509BFA64D75A}"/>
                </a:ext>
              </a:extLst>
            </p:cNvPr>
            <p:cNvSpPr/>
            <p:nvPr/>
          </p:nvSpPr>
          <p:spPr>
            <a:xfrm>
              <a:off x="2487168" y="1331341"/>
              <a:ext cx="2066544" cy="950976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Data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Cleaning</a:t>
              </a:r>
              <a:endParaRPr lang="fr-N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11E5573C-DD1C-E98B-4706-F458ADC8B078}"/>
                </a:ext>
              </a:extLst>
            </p:cNvPr>
            <p:cNvSpPr/>
            <p:nvPr/>
          </p:nvSpPr>
          <p:spPr>
            <a:xfrm>
              <a:off x="2482375" y="2468880"/>
              <a:ext cx="2481507" cy="110163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Convert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from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local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currency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to USD</a:t>
              </a:r>
              <a:endParaRPr lang="fr-N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8F681612-C603-0D3D-AE90-521F3CFB9A1E}"/>
                </a:ext>
              </a:extLst>
            </p:cNvPr>
            <p:cNvSpPr txBox="1"/>
            <p:nvPr/>
          </p:nvSpPr>
          <p:spPr>
            <a:xfrm>
              <a:off x="4959096" y="1590739"/>
              <a:ext cx="522122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Format dates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Format the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amount</a:t>
              </a:r>
              <a:endParaRPr lang="fr-FR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Identify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null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Transform String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characters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Numeric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Float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ID Country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tld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code</a:t>
              </a:r>
              <a:endParaRPr lang="fr-N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29DC27D0-2F0D-CB4F-259B-B248CE166BE9}"/>
              </a:ext>
            </a:extLst>
          </p:cNvPr>
          <p:cNvGrpSpPr/>
          <p:nvPr/>
        </p:nvGrpSpPr>
        <p:grpSpPr>
          <a:xfrm>
            <a:off x="2185416" y="4274145"/>
            <a:ext cx="8759952" cy="1554480"/>
            <a:chOff x="2203704" y="4008755"/>
            <a:chExt cx="8814816" cy="1554480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70AD6405-4236-BB2D-4B1B-B3841AC20BE7}"/>
                </a:ext>
              </a:extLst>
            </p:cNvPr>
            <p:cNvSpPr/>
            <p:nvPr/>
          </p:nvSpPr>
          <p:spPr>
            <a:xfrm>
              <a:off x="2203704" y="4008755"/>
              <a:ext cx="8814816" cy="1554480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  <a:endParaRPr lang="fr-NE" dirty="0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04F5C0B3-E825-A50D-0504-EA5FAE47BB72}"/>
                </a:ext>
              </a:extLst>
            </p:cNvPr>
            <p:cNvSpPr/>
            <p:nvPr/>
          </p:nvSpPr>
          <p:spPr>
            <a:xfrm>
              <a:off x="2752344" y="4195318"/>
              <a:ext cx="2414016" cy="115760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Classify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expenditure  per group and category </a:t>
              </a:r>
              <a:endParaRPr lang="fr-N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33149100-6867-CF1A-4186-9CDA1C15F41E}"/>
                </a:ext>
              </a:extLst>
            </p:cNvPr>
            <p:cNvCxnSpPr>
              <a:cxnSpLocks/>
            </p:cNvCxnSpPr>
            <p:nvPr/>
          </p:nvCxnSpPr>
          <p:spPr>
            <a:xfrm>
              <a:off x="5504688" y="4008755"/>
              <a:ext cx="0" cy="15544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4D364A30-D57E-2825-11F8-F4ECCB35ED1B}"/>
                </a:ext>
              </a:extLst>
            </p:cNvPr>
            <p:cNvSpPr/>
            <p:nvPr/>
          </p:nvSpPr>
          <p:spPr>
            <a:xfrm>
              <a:off x="5952745" y="4195318"/>
              <a:ext cx="2599070" cy="117592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Ingest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Data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into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Middle DB</a:t>
              </a:r>
              <a:endParaRPr lang="fr-N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A80C3178-B4B0-C540-8F63-512FDA50330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225296" y="2139696"/>
            <a:ext cx="78638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345F986-BBA3-9598-B081-99BEF2CB3AF0}"/>
              </a:ext>
            </a:extLst>
          </p:cNvPr>
          <p:cNvCxnSpPr>
            <a:cxnSpLocks/>
          </p:cNvCxnSpPr>
          <p:nvPr/>
        </p:nvCxnSpPr>
        <p:spPr>
          <a:xfrm flipV="1">
            <a:off x="1237488" y="2338631"/>
            <a:ext cx="786384" cy="918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8219EF7E-0F97-276C-B656-CA6C29676EF4}"/>
              </a:ext>
            </a:extLst>
          </p:cNvPr>
          <p:cNvCxnSpPr>
            <a:cxnSpLocks/>
          </p:cNvCxnSpPr>
          <p:nvPr/>
        </p:nvCxnSpPr>
        <p:spPr>
          <a:xfrm flipV="1">
            <a:off x="1225296" y="3140964"/>
            <a:ext cx="786384" cy="1384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BCEAB7D0-5ABC-5F3D-A63A-2F1F692FBDED}"/>
              </a:ext>
            </a:extLst>
          </p:cNvPr>
          <p:cNvCxnSpPr>
            <a:cxnSpLocks/>
          </p:cNvCxnSpPr>
          <p:nvPr/>
        </p:nvCxnSpPr>
        <p:spPr>
          <a:xfrm flipV="1">
            <a:off x="1303020" y="3694176"/>
            <a:ext cx="804672" cy="223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Flèche : bas 50">
            <a:extLst>
              <a:ext uri="{FF2B5EF4-FFF2-40B4-BE49-F238E27FC236}">
                <a16:creationId xmlns:a16="http://schemas.microsoft.com/office/drawing/2014/main" id="{95792D2A-01B5-46F0-D96F-F8033AA4BA93}"/>
              </a:ext>
            </a:extLst>
          </p:cNvPr>
          <p:cNvSpPr/>
          <p:nvPr/>
        </p:nvSpPr>
        <p:spPr>
          <a:xfrm>
            <a:off x="6336792" y="3881735"/>
            <a:ext cx="192023" cy="38698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NE"/>
          </a:p>
        </p:txBody>
      </p: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BDC2FCB0-226A-DC6B-3DA6-4594E541A0E6}"/>
              </a:ext>
            </a:extLst>
          </p:cNvPr>
          <p:cNvCxnSpPr>
            <a:cxnSpLocks/>
            <a:stCxn id="31" idx="6"/>
            <a:endCxn id="35" idx="2"/>
          </p:cNvCxnSpPr>
          <p:nvPr/>
        </p:nvCxnSpPr>
        <p:spPr>
          <a:xfrm>
            <a:off x="5129632" y="5039511"/>
            <a:ext cx="781491" cy="9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Nuage 60">
            <a:extLst>
              <a:ext uri="{FF2B5EF4-FFF2-40B4-BE49-F238E27FC236}">
                <a16:creationId xmlns:a16="http://schemas.microsoft.com/office/drawing/2014/main" id="{23395752-AB5E-1664-B916-0FD565421CE3}"/>
              </a:ext>
            </a:extLst>
          </p:cNvPr>
          <p:cNvSpPr/>
          <p:nvPr/>
        </p:nvSpPr>
        <p:spPr>
          <a:xfrm>
            <a:off x="7187943" y="6076805"/>
            <a:ext cx="1302149" cy="702582"/>
          </a:xfrm>
          <a:prstGeom prst="cloud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endParaRPr lang="fr-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4181C056-3372-6D75-9E4A-DB39F91D7BA3}"/>
              </a:ext>
            </a:extLst>
          </p:cNvPr>
          <p:cNvCxnSpPr>
            <a:cxnSpLocks/>
            <a:endCxn id="61" idx="2"/>
          </p:cNvCxnSpPr>
          <p:nvPr/>
        </p:nvCxnSpPr>
        <p:spPr>
          <a:xfrm>
            <a:off x="6239256" y="6428096"/>
            <a:ext cx="9527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Flèche : bas 67">
            <a:extLst>
              <a:ext uri="{FF2B5EF4-FFF2-40B4-BE49-F238E27FC236}">
                <a16:creationId xmlns:a16="http://schemas.microsoft.com/office/drawing/2014/main" id="{38EF4512-9473-A1C9-F3CE-6DAC2FF916B3}"/>
              </a:ext>
            </a:extLst>
          </p:cNvPr>
          <p:cNvSpPr/>
          <p:nvPr/>
        </p:nvSpPr>
        <p:spPr>
          <a:xfrm>
            <a:off x="5650993" y="5828625"/>
            <a:ext cx="194636" cy="29398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NE"/>
          </a:p>
        </p:txBody>
      </p:sp>
      <p:sp>
        <p:nvSpPr>
          <p:cNvPr id="70" name="Cylindre 69">
            <a:extLst>
              <a:ext uri="{FF2B5EF4-FFF2-40B4-BE49-F238E27FC236}">
                <a16:creationId xmlns:a16="http://schemas.microsoft.com/office/drawing/2014/main" id="{9190D56D-585E-1AB1-D1C2-DA6DEF6E9A26}"/>
              </a:ext>
            </a:extLst>
          </p:cNvPr>
          <p:cNvSpPr/>
          <p:nvPr/>
        </p:nvSpPr>
        <p:spPr>
          <a:xfrm>
            <a:off x="9666514" y="6062225"/>
            <a:ext cx="1443446" cy="717161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 DB</a:t>
            </a:r>
            <a:endParaRPr lang="fr-NE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220A556E-B706-3F56-78AD-157B9D9192F0}"/>
              </a:ext>
            </a:extLst>
          </p:cNvPr>
          <p:cNvCxnSpPr>
            <a:stCxn id="61" idx="0"/>
            <a:endCxn id="70" idx="2"/>
          </p:cNvCxnSpPr>
          <p:nvPr/>
        </p:nvCxnSpPr>
        <p:spPr>
          <a:xfrm flipV="1">
            <a:off x="8489007" y="6420806"/>
            <a:ext cx="1177507" cy="72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9D0F9-3203-3DAA-9C52-25B07ACAA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Espace réservé du contenu 38" descr="Base de données avec un remplissage uni">
            <a:extLst>
              <a:ext uri="{FF2B5EF4-FFF2-40B4-BE49-F238E27FC236}">
                <a16:creationId xmlns:a16="http://schemas.microsoft.com/office/drawing/2014/main" id="{DE0D38B7-422F-BE51-62FC-5A81D4493B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37759" y="6062226"/>
            <a:ext cx="1591056" cy="811763"/>
          </a:xfrm>
        </p:spPr>
      </p:pic>
      <p:sp>
        <p:nvSpPr>
          <p:cNvPr id="6" name="Rectangle : carré corné 5">
            <a:extLst>
              <a:ext uri="{FF2B5EF4-FFF2-40B4-BE49-F238E27FC236}">
                <a16:creationId xmlns:a16="http://schemas.microsoft.com/office/drawing/2014/main" id="{5136BF7A-9DA9-F6D1-5AF4-D6588949180D}"/>
              </a:ext>
            </a:extLst>
          </p:cNvPr>
          <p:cNvSpPr/>
          <p:nvPr/>
        </p:nvSpPr>
        <p:spPr>
          <a:xfrm>
            <a:off x="76200" y="1664208"/>
            <a:ext cx="1226820" cy="950976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Template csv file</a:t>
            </a: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State 1</a:t>
            </a:r>
            <a:endParaRPr lang="fr-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 : carré corné 8">
            <a:extLst>
              <a:ext uri="{FF2B5EF4-FFF2-40B4-BE49-F238E27FC236}">
                <a16:creationId xmlns:a16="http://schemas.microsoft.com/office/drawing/2014/main" id="{FD0F8450-344D-A249-C395-AE9F2657C21F}"/>
              </a:ext>
            </a:extLst>
          </p:cNvPr>
          <p:cNvSpPr/>
          <p:nvPr/>
        </p:nvSpPr>
        <p:spPr>
          <a:xfrm>
            <a:off x="76200" y="3008376"/>
            <a:ext cx="1383792" cy="950976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Template csv file</a:t>
            </a: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State 2</a:t>
            </a:r>
            <a:endParaRPr lang="fr-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 : carré corné 9">
            <a:extLst>
              <a:ext uri="{FF2B5EF4-FFF2-40B4-BE49-F238E27FC236}">
                <a16:creationId xmlns:a16="http://schemas.microsoft.com/office/drawing/2014/main" id="{DA3F0DB8-3402-BEF6-CDC7-4E60F108FCC8}"/>
              </a:ext>
            </a:extLst>
          </p:cNvPr>
          <p:cNvSpPr/>
          <p:nvPr/>
        </p:nvSpPr>
        <p:spPr>
          <a:xfrm>
            <a:off x="76200" y="5526659"/>
            <a:ext cx="1226820" cy="813816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Template csv file</a:t>
            </a: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State n</a:t>
            </a:r>
            <a:endParaRPr lang="fr-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re 1">
            <a:extLst>
              <a:ext uri="{FF2B5EF4-FFF2-40B4-BE49-F238E27FC236}">
                <a16:creationId xmlns:a16="http://schemas.microsoft.com/office/drawing/2014/main" id="{526AA9D3-C7C0-21FC-C285-FC2B38C65214}"/>
              </a:ext>
            </a:extLst>
          </p:cNvPr>
          <p:cNvSpPr txBox="1">
            <a:spLocks/>
          </p:cNvSpPr>
          <p:nvPr/>
        </p:nvSpPr>
        <p:spPr>
          <a:xfrm>
            <a:off x="981456" y="786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Integrate</a:t>
            </a:r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external</a:t>
            </a:r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 Multi-sources and Template -Format Data to Middle </a:t>
            </a:r>
            <a:r>
              <a:rPr lang="fr-FR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fr-FR" sz="3200" b="1" dirty="0">
                <a:latin typeface="Arial" panose="020B0604020202020204" pitchFamily="34" charset="0"/>
                <a:cs typeface="Arial" panose="020B0604020202020204" pitchFamily="34" charset="0"/>
              </a:rPr>
              <a:t> (Solution 2)</a:t>
            </a:r>
            <a:endParaRPr lang="fr-NE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 : carré corné 21">
            <a:extLst>
              <a:ext uri="{FF2B5EF4-FFF2-40B4-BE49-F238E27FC236}">
                <a16:creationId xmlns:a16="http://schemas.microsoft.com/office/drawing/2014/main" id="{F165CCE9-4FCC-B914-F514-78AFA7471D96}"/>
              </a:ext>
            </a:extLst>
          </p:cNvPr>
          <p:cNvSpPr/>
          <p:nvPr/>
        </p:nvSpPr>
        <p:spPr>
          <a:xfrm>
            <a:off x="76199" y="4182491"/>
            <a:ext cx="1238279" cy="866180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Template csv file</a:t>
            </a:r>
          </a:p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State 3 </a:t>
            </a:r>
            <a:endParaRPr lang="fr-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1CBD2592-938F-C29E-F102-9DF281E8DBD7}"/>
              </a:ext>
            </a:extLst>
          </p:cNvPr>
          <p:cNvGrpSpPr/>
          <p:nvPr/>
        </p:nvGrpSpPr>
        <p:grpSpPr>
          <a:xfrm>
            <a:off x="2011680" y="1248263"/>
            <a:ext cx="8933688" cy="2633472"/>
            <a:chOff x="2011680" y="1248263"/>
            <a:chExt cx="8933688" cy="2633472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03D005B7-E19D-9E9F-5800-86956833CBCA}"/>
                </a:ext>
              </a:extLst>
            </p:cNvPr>
            <p:cNvSpPr/>
            <p:nvPr/>
          </p:nvSpPr>
          <p:spPr>
            <a:xfrm>
              <a:off x="2011680" y="1248263"/>
              <a:ext cx="8933688" cy="2633472"/>
            </a:xfrm>
            <a:prstGeom prst="round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NE" dirty="0"/>
            </a:p>
          </p:txBody>
        </p:sp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8FA2315A-96D8-C68D-819F-013AA0E74E92}"/>
                </a:ext>
              </a:extLst>
            </p:cNvPr>
            <p:cNvSpPr/>
            <p:nvPr/>
          </p:nvSpPr>
          <p:spPr>
            <a:xfrm>
              <a:off x="4730548" y="1631761"/>
              <a:ext cx="2639991" cy="793908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Data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Cleaning</a:t>
              </a:r>
              <a:endParaRPr lang="fr-N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5D25E814-6DB8-44C7-273C-0A74AA680E43}"/>
                </a:ext>
              </a:extLst>
            </p:cNvPr>
            <p:cNvSpPr/>
            <p:nvPr/>
          </p:nvSpPr>
          <p:spPr>
            <a:xfrm>
              <a:off x="4454868" y="2854332"/>
              <a:ext cx="2886891" cy="809412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Convert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from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local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currency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to USD</a:t>
              </a:r>
              <a:endParaRPr lang="fr-N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2039CB23-0144-F194-2B0B-CEF829B54C23}"/>
                </a:ext>
              </a:extLst>
            </p:cNvPr>
            <p:cNvSpPr txBox="1"/>
            <p:nvPr/>
          </p:nvSpPr>
          <p:spPr>
            <a:xfrm>
              <a:off x="7426927" y="1664208"/>
              <a:ext cx="3462053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Format dates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Format the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amount</a:t>
              </a:r>
              <a:endParaRPr lang="fr-FR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Identify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null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values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Transform String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characters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to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Numeric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Float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ID Country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tld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code</a:t>
              </a:r>
              <a:endParaRPr lang="fr-N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A903B9F9-2C15-838A-056B-680CED865136}"/>
              </a:ext>
            </a:extLst>
          </p:cNvPr>
          <p:cNvGrpSpPr/>
          <p:nvPr/>
        </p:nvGrpSpPr>
        <p:grpSpPr>
          <a:xfrm>
            <a:off x="2185416" y="4274145"/>
            <a:ext cx="8759952" cy="1554480"/>
            <a:chOff x="2203704" y="4008755"/>
            <a:chExt cx="8814816" cy="1554480"/>
          </a:xfrm>
        </p:grpSpPr>
        <p:sp>
          <p:nvSpPr>
            <p:cNvPr id="30" name="Rectangle : coins arrondis 29">
              <a:extLst>
                <a:ext uri="{FF2B5EF4-FFF2-40B4-BE49-F238E27FC236}">
                  <a16:creationId xmlns:a16="http://schemas.microsoft.com/office/drawing/2014/main" id="{D8EA79C6-C2EF-2852-B859-227AC7EBE8FF}"/>
                </a:ext>
              </a:extLst>
            </p:cNvPr>
            <p:cNvSpPr/>
            <p:nvPr/>
          </p:nvSpPr>
          <p:spPr>
            <a:xfrm>
              <a:off x="2203704" y="4008755"/>
              <a:ext cx="8814816" cy="1554480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</a:t>
              </a:r>
              <a:endParaRPr lang="fr-NE" dirty="0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64180806-ED9B-634E-6DA0-9C3FAB08F94E}"/>
                </a:ext>
              </a:extLst>
            </p:cNvPr>
            <p:cNvSpPr/>
            <p:nvPr/>
          </p:nvSpPr>
          <p:spPr>
            <a:xfrm>
              <a:off x="2752344" y="4195318"/>
              <a:ext cx="2414016" cy="115760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Classify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expenditure  per group and category </a:t>
              </a:r>
              <a:endParaRPr lang="fr-N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20749261-4357-C0C2-2082-2A1DFF7D4FE9}"/>
                </a:ext>
              </a:extLst>
            </p:cNvPr>
            <p:cNvCxnSpPr>
              <a:cxnSpLocks/>
            </p:cNvCxnSpPr>
            <p:nvPr/>
          </p:nvCxnSpPr>
          <p:spPr>
            <a:xfrm>
              <a:off x="5504688" y="4008755"/>
              <a:ext cx="0" cy="155448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Ellipse 34">
              <a:extLst>
                <a:ext uri="{FF2B5EF4-FFF2-40B4-BE49-F238E27FC236}">
                  <a16:creationId xmlns:a16="http://schemas.microsoft.com/office/drawing/2014/main" id="{6F5C442D-95D9-98C6-E399-0761FD6DF41C}"/>
                </a:ext>
              </a:extLst>
            </p:cNvPr>
            <p:cNvSpPr/>
            <p:nvPr/>
          </p:nvSpPr>
          <p:spPr>
            <a:xfrm>
              <a:off x="5952745" y="4195318"/>
              <a:ext cx="2599070" cy="1175925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Ingest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Data </a:t>
              </a:r>
              <a:r>
                <a:rPr lang="fr-FR" dirty="0" err="1">
                  <a:latin typeface="Arial" panose="020B0604020202020204" pitchFamily="34" charset="0"/>
                  <a:cs typeface="Arial" panose="020B0604020202020204" pitchFamily="34" charset="0"/>
                </a:rPr>
                <a:t>into</a:t>
              </a:r>
              <a:r>
                <a:rPr lang="fr-FR" dirty="0">
                  <a:latin typeface="Arial" panose="020B0604020202020204" pitchFamily="34" charset="0"/>
                  <a:cs typeface="Arial" panose="020B0604020202020204" pitchFamily="34" charset="0"/>
                </a:rPr>
                <a:t> Middle DB</a:t>
              </a:r>
              <a:endParaRPr lang="fr-NE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74A95A24-1374-6DE1-23E1-A6CC5A20AFC0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1303020" y="2139696"/>
            <a:ext cx="7086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7BD56129-5221-9D4F-4AD8-3253583A3425}"/>
              </a:ext>
            </a:extLst>
          </p:cNvPr>
          <p:cNvCxnSpPr>
            <a:cxnSpLocks/>
          </p:cNvCxnSpPr>
          <p:nvPr/>
        </p:nvCxnSpPr>
        <p:spPr>
          <a:xfrm flipV="1">
            <a:off x="1459992" y="2338631"/>
            <a:ext cx="563880" cy="1090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685D6504-AB62-3362-1C4D-BEDA59C8287F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1314478" y="3140964"/>
            <a:ext cx="697202" cy="14746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3056BEE5-93DE-04BD-0DB5-E6D2A78E73DC}"/>
              </a:ext>
            </a:extLst>
          </p:cNvPr>
          <p:cNvCxnSpPr>
            <a:cxnSpLocks/>
          </p:cNvCxnSpPr>
          <p:nvPr/>
        </p:nvCxnSpPr>
        <p:spPr>
          <a:xfrm flipV="1">
            <a:off x="1303020" y="3694176"/>
            <a:ext cx="804672" cy="2239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Flèche : bas 50">
            <a:extLst>
              <a:ext uri="{FF2B5EF4-FFF2-40B4-BE49-F238E27FC236}">
                <a16:creationId xmlns:a16="http://schemas.microsoft.com/office/drawing/2014/main" id="{74C4DF2B-A7F9-F7E1-1629-379369FCB010}"/>
              </a:ext>
            </a:extLst>
          </p:cNvPr>
          <p:cNvSpPr/>
          <p:nvPr/>
        </p:nvSpPr>
        <p:spPr>
          <a:xfrm>
            <a:off x="6336792" y="3881735"/>
            <a:ext cx="192023" cy="38698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NE"/>
          </a:p>
        </p:txBody>
      </p: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A0621B9A-49ED-C94E-A837-DCEC77BECA0C}"/>
              </a:ext>
            </a:extLst>
          </p:cNvPr>
          <p:cNvCxnSpPr>
            <a:cxnSpLocks/>
            <a:stCxn id="31" idx="6"/>
            <a:endCxn id="35" idx="2"/>
          </p:cNvCxnSpPr>
          <p:nvPr/>
        </p:nvCxnSpPr>
        <p:spPr>
          <a:xfrm>
            <a:off x="5129632" y="5039511"/>
            <a:ext cx="781491" cy="9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Nuage 60">
            <a:extLst>
              <a:ext uri="{FF2B5EF4-FFF2-40B4-BE49-F238E27FC236}">
                <a16:creationId xmlns:a16="http://schemas.microsoft.com/office/drawing/2014/main" id="{8B2BA53B-D0EE-A6CD-BD85-7D83C0FD46C5}"/>
              </a:ext>
            </a:extLst>
          </p:cNvPr>
          <p:cNvSpPr/>
          <p:nvPr/>
        </p:nvSpPr>
        <p:spPr>
          <a:xfrm>
            <a:off x="7187943" y="6076805"/>
            <a:ext cx="1302149" cy="702582"/>
          </a:xfrm>
          <a:prstGeom prst="cloud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API</a:t>
            </a:r>
            <a:endParaRPr lang="fr-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2F8F1691-DE7E-AF95-4BE6-A7299196A2DC}"/>
              </a:ext>
            </a:extLst>
          </p:cNvPr>
          <p:cNvCxnSpPr>
            <a:cxnSpLocks/>
            <a:endCxn id="61" idx="2"/>
          </p:cNvCxnSpPr>
          <p:nvPr/>
        </p:nvCxnSpPr>
        <p:spPr>
          <a:xfrm>
            <a:off x="6239256" y="6428096"/>
            <a:ext cx="95272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Flèche : bas 67">
            <a:extLst>
              <a:ext uri="{FF2B5EF4-FFF2-40B4-BE49-F238E27FC236}">
                <a16:creationId xmlns:a16="http://schemas.microsoft.com/office/drawing/2014/main" id="{E25D1CA4-62D6-A137-0DE7-E9549BED8DC0}"/>
              </a:ext>
            </a:extLst>
          </p:cNvPr>
          <p:cNvSpPr/>
          <p:nvPr/>
        </p:nvSpPr>
        <p:spPr>
          <a:xfrm>
            <a:off x="5650993" y="5828625"/>
            <a:ext cx="194636" cy="29398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NE"/>
          </a:p>
        </p:txBody>
      </p:sp>
      <p:sp>
        <p:nvSpPr>
          <p:cNvPr id="70" name="Cylindre 69">
            <a:extLst>
              <a:ext uri="{FF2B5EF4-FFF2-40B4-BE49-F238E27FC236}">
                <a16:creationId xmlns:a16="http://schemas.microsoft.com/office/drawing/2014/main" id="{28EAAD5C-11A3-72BD-E6CD-D7E9613332D6}"/>
              </a:ext>
            </a:extLst>
          </p:cNvPr>
          <p:cNvSpPr/>
          <p:nvPr/>
        </p:nvSpPr>
        <p:spPr>
          <a:xfrm>
            <a:off x="9666514" y="6062225"/>
            <a:ext cx="1443446" cy="717161"/>
          </a:xfrm>
          <a:prstGeom prst="can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 DB</a:t>
            </a:r>
            <a:endParaRPr lang="fr-NE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D196717B-6AE4-5F0F-6C5A-4F370AB2223E}"/>
              </a:ext>
            </a:extLst>
          </p:cNvPr>
          <p:cNvCxnSpPr>
            <a:stCxn id="61" idx="0"/>
            <a:endCxn id="70" idx="2"/>
          </p:cNvCxnSpPr>
          <p:nvPr/>
        </p:nvCxnSpPr>
        <p:spPr>
          <a:xfrm flipV="1">
            <a:off x="8489007" y="6420806"/>
            <a:ext cx="1177507" cy="729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9CD14B27-3C19-AC8F-6717-35C4C9371967}"/>
              </a:ext>
            </a:extLst>
          </p:cNvPr>
          <p:cNvSpPr/>
          <p:nvPr/>
        </p:nvSpPr>
        <p:spPr>
          <a:xfrm>
            <a:off x="2107094" y="1796586"/>
            <a:ext cx="1796086" cy="1201499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Upload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Template File</a:t>
            </a:r>
            <a:endParaRPr lang="fr-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73F7AA2B-536C-72C0-B1DA-24BE326A8A89}"/>
              </a:ext>
            </a:extLst>
          </p:cNvPr>
          <p:cNvCxnSpPr>
            <a:cxnSpLocks/>
          </p:cNvCxnSpPr>
          <p:nvPr/>
        </p:nvCxnSpPr>
        <p:spPr>
          <a:xfrm>
            <a:off x="4038600" y="1248263"/>
            <a:ext cx="0" cy="26334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B94A7AA6-EC62-5C55-AA5C-A9AEA8BAAC25}"/>
              </a:ext>
            </a:extLst>
          </p:cNvPr>
          <p:cNvCxnSpPr>
            <a:cxnSpLocks/>
            <a:stCxn id="7" idx="6"/>
            <a:endCxn id="25" idx="2"/>
          </p:cNvCxnSpPr>
          <p:nvPr/>
        </p:nvCxnSpPr>
        <p:spPr>
          <a:xfrm flipV="1">
            <a:off x="3903180" y="2028715"/>
            <a:ext cx="827368" cy="368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8EFFBF32-CAF4-F2A1-01B2-F80CC059D8BB}"/>
              </a:ext>
            </a:extLst>
          </p:cNvPr>
          <p:cNvCxnSpPr/>
          <p:nvPr/>
        </p:nvCxnSpPr>
        <p:spPr>
          <a:xfrm>
            <a:off x="6096000" y="2397335"/>
            <a:ext cx="0" cy="486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1934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175</Words>
  <Application>Microsoft Office PowerPoint</Application>
  <PresentationFormat>Grand écran</PresentationFormat>
  <Paragraphs>51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Consolidating Expenditure health Information </vt:lpstr>
      <vt:lpstr>SI Architecture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Narcisse Quenum</dc:creator>
  <cp:lastModifiedBy>Narcisse Quenum</cp:lastModifiedBy>
  <cp:revision>12</cp:revision>
  <dcterms:created xsi:type="dcterms:W3CDTF">2026-09-20T15:45:50Z</dcterms:created>
  <dcterms:modified xsi:type="dcterms:W3CDTF">2026-09-21T19:12:10Z</dcterms:modified>
</cp:coreProperties>
</file>